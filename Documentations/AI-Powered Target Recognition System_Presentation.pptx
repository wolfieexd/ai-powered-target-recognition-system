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2" r:id="rId6"/>
    <p:sldId id="259" r:id="rId7"/>
    <p:sldId id="263" r:id="rId8"/>
    <p:sldId id="264" r:id="rId9"/>
    <p:sldId id="266" r:id="rId10"/>
    <p:sldId id="267" r:id="rId11"/>
    <p:sldId id="268" r:id="rId12"/>
  </p:sldIdLst>
  <p:sldSz cx="18288000" cy="10287000"/>
  <p:notesSz cx="6858000" cy="9144000"/>
  <p:embeddedFontLst>
    <p:embeddedFont>
      <p:font typeface="Montserrat Classic Bold" panose="020B0604020202020204" charset="0"/>
      <p:regular r:id="rId13"/>
    </p:embeddedFont>
    <p:embeddedFont>
      <p:font typeface="Montserrat Heavy" panose="020B0604020202020204" charset="0"/>
      <p:regular r:id="rId14"/>
    </p:embeddedFont>
    <p:embeddedFont>
      <p:font typeface="Montserrat Ultra-Bold" panose="020B0604020202020204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FgeTtZ6phLOr-pMv9z7rtF618bfzQZ2A/view?usp=sharing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11734" y="652759"/>
            <a:ext cx="12689221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7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AI-POWERED TARGET RECOGNITION SYSTEM</a:t>
            </a:r>
            <a:br>
              <a:rPr lang="en-US" sz="87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</a:br>
            <a:r>
              <a:rPr lang="en-US" sz="2600" i="1" dirty="0">
                <a:solidFill>
                  <a:srgbClr val="1211CA"/>
                </a:solidFill>
                <a:latin typeface="Montserrat Classic Bold" panose="020B0604020202020204" charset="0"/>
              </a:rPr>
              <a:t>Real-Time Weapon Detection &amp; Surveillance  </a:t>
            </a:r>
          </a:p>
          <a:p>
            <a:r>
              <a:rPr lang="en-US" sz="2600" i="1" dirty="0">
                <a:solidFill>
                  <a:srgbClr val="1211CA"/>
                </a:solidFill>
                <a:latin typeface="Montserrat Classic Bold" panose="020B0604020202020204" charset="0"/>
              </a:rPr>
              <a:t>Advanced Multi-Camera Security Solution with Intelligent Alert System </a:t>
            </a:r>
          </a:p>
          <a:p>
            <a:pPr algn="l">
              <a:lnSpc>
                <a:spcPts val="9570"/>
              </a:lnSpc>
            </a:pPr>
            <a:endParaRPr lang="en-US" sz="87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11734" y="7760937"/>
            <a:ext cx="11235362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86400" lvl="1" indent="-5184775" algn="l" defTabSz="685800">
              <a:lnSpc>
                <a:spcPts val="3920"/>
              </a:lnSpc>
              <a:tabLst>
                <a:tab pos="5207000" algn="l"/>
              </a:tabLst>
            </a:pPr>
            <a:r>
              <a:rPr lang="en-US" sz="2800" spc="963" dirty="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S SUJAN	</a:t>
            </a:r>
            <a:r>
              <a:rPr lang="en-US" sz="2800" spc="963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	RA2311003020537</a:t>
            </a:r>
            <a:endParaRPr lang="en-US" sz="2800" spc="963" dirty="0">
              <a:solidFill>
                <a:srgbClr val="10101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18540" y="1866900"/>
            <a:ext cx="2758345" cy="228600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951985"/>
            <a:ext cx="9451525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DB473-383A-64DB-9EAD-632E0039CDA7}"/>
              </a:ext>
            </a:extLst>
          </p:cNvPr>
          <p:cNvSpPr txBox="1"/>
          <p:nvPr/>
        </p:nvSpPr>
        <p:spPr>
          <a:xfrm>
            <a:off x="1046285" y="3414731"/>
            <a:ext cx="1347225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CURRENT SECURITY CHALLENGES:</a:t>
            </a:r>
          </a:p>
          <a:p>
            <a:endParaRPr lang="en-US" dirty="0">
              <a:solidFill>
                <a:srgbClr val="1211CA"/>
              </a:solidFill>
              <a:latin typeface="Montserrat Classic 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Manual Surveillance Limitations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200" dirty="0"/>
              <a:t>Constant human monitoring required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200" dirty="0"/>
              <a:t>Fatigue leads to missed threats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Response Time Delays</a:t>
            </a:r>
            <a:endParaRPr lang="en-US" sz="22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200" dirty="0"/>
              <a:t>Critical seconds lost between detection and alert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High False Positive Rates</a:t>
            </a:r>
            <a:r>
              <a:rPr lang="en-US" sz="2200" dirty="0"/>
              <a:t> 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200" dirty="0"/>
              <a:t>Existing systems struggle with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Limited Multi-Camera Management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200" dirty="0"/>
              <a:t>Difficulty monitoring multiple feeds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Lack of Real-Time Documentation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200" dirty="0"/>
              <a:t>Missing automatic evidence capture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Communication Gaps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200" dirty="0"/>
              <a:t>Delayed notification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9F87-A52D-3C8C-3301-FA41B1A5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69E765-5685-2784-F8A7-FCE507C4083F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2ECC622-3AF5-C8DE-0211-F8EBB09D3848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627A6C-0EDA-B155-DE6A-4606492D7ED9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40A1460-6C8C-442F-00E2-1210952E32E2}"/>
              </a:ext>
            </a:extLst>
          </p:cNvPr>
          <p:cNvGrpSpPr/>
          <p:nvPr/>
        </p:nvGrpSpPr>
        <p:grpSpPr>
          <a:xfrm>
            <a:off x="14500955" y="1866900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B51BA4-4A7E-E475-3A6A-F7FDFCEF1836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EABD6AD-B830-1D73-B5A3-5C3ECD5E2489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11A8913-AFB7-BB75-8FD8-C7E95BF9C0D8}"/>
              </a:ext>
            </a:extLst>
          </p:cNvPr>
          <p:cNvSpPr txBox="1"/>
          <p:nvPr/>
        </p:nvSpPr>
        <p:spPr>
          <a:xfrm>
            <a:off x="1028700" y="1951985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Objectives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F2F2D51-FD74-98DD-0942-CAD09E58D429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8B65B-69D0-7D87-A910-88D54C07C500}"/>
              </a:ext>
            </a:extLst>
          </p:cNvPr>
          <p:cNvSpPr txBox="1"/>
          <p:nvPr/>
        </p:nvSpPr>
        <p:spPr>
          <a:xfrm>
            <a:off x="1028700" y="3390900"/>
            <a:ext cx="13472255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i="1" dirty="0">
                <a:solidFill>
                  <a:srgbClr val="1211CA"/>
                </a:solidFill>
              </a:rPr>
              <a:t>PRIMARY OBJECTIVES</a:t>
            </a:r>
            <a:r>
              <a:rPr lang="en-US" altLang="en-US" sz="2400" b="1" i="1" dirty="0">
                <a:solidFill>
                  <a:srgbClr val="1211CA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Develop AI-powered weapon detection using YOLO architecture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Implement real-time surveillance across multiple cameras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Create intelligent alert mechanisms with configurable thresholds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Build comprehensive database management system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400" b="1" i="1" dirty="0">
                <a:solidFill>
                  <a:srgbClr val="1211CA"/>
                </a:solidFill>
              </a:rPr>
              <a:t>SECONDARY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Multi-channel notification system (Screen, Sound, WhatsApp)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Evidence preservation with automatic image capture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User-friendly GUI interface for system management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Performance optimization for real-time processing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Scalable architecture for multiple camera streams  </a:t>
            </a:r>
          </a:p>
          <a:p>
            <a:endParaRPr lang="en-US" sz="2200" dirty="0"/>
          </a:p>
          <a:p>
            <a:r>
              <a:rPr lang="en-US" sz="2400" b="1" i="1" dirty="0">
                <a:solidFill>
                  <a:srgbClr val="1211CA"/>
                </a:solidFill>
              </a:rPr>
              <a:t>EXPECTED OUTCOMES: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95%+ detection accuracy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Sub-second response time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Comprehensive audit trail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Seamless multi-camera management </a:t>
            </a:r>
          </a:p>
        </p:txBody>
      </p:sp>
    </p:spTree>
    <p:extLst>
      <p:ext uri="{BB962C8B-B14F-4D97-AF65-F5344CB8AC3E}">
        <p14:creationId xmlns:p14="http://schemas.microsoft.com/office/powerpoint/2010/main" val="232827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01393"/>
            <a:ext cx="9451525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and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172EE-04D2-F2BB-2A15-5CA0050B751F}"/>
              </a:ext>
            </a:extLst>
          </p:cNvPr>
          <p:cNvSpPr txBox="1"/>
          <p:nvPr/>
        </p:nvSpPr>
        <p:spPr>
          <a:xfrm>
            <a:off x="1028700" y="3467100"/>
            <a:ext cx="705084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Deep Learning Approach: YOLO (You Only Look Once)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Real-time Object Detection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Single Neural Network Evaluation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Bounding Box Regression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Class Probability Prediction  </a:t>
            </a:r>
          </a:p>
          <a:p>
            <a:endParaRPr lang="en-US" dirty="0"/>
          </a:p>
          <a:p>
            <a:r>
              <a:rPr lang="en-US" sz="2400" b="1" i="1" dirty="0">
                <a:solidFill>
                  <a:srgbClr val="1211CA"/>
                </a:solidFill>
              </a:rPr>
              <a:t>Development Workflow: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Phase 1: Model Integration</a:t>
            </a: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YOLO Model Loading (YOLOv8)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Custom Weapon Class Training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Confidence Threshold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Phase 2: Multi-Camera Framework</a:t>
            </a: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Camera Source Abstraction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Video Stream Management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Frame Processing Pipeline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8976D-7DB5-4455-D914-97904A3A737E}"/>
              </a:ext>
            </a:extLst>
          </p:cNvPr>
          <p:cNvSpPr txBox="1"/>
          <p:nvPr/>
        </p:nvSpPr>
        <p:spPr>
          <a:xfrm>
            <a:off x="6553200" y="5829300"/>
            <a:ext cx="58674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Phase 3: Alert System Development</a:t>
            </a: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Screen Alert Implementation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Audio Notification System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WhatsApp Integration (</a:t>
            </a:r>
            <a:r>
              <a:rPr lang="en-US" sz="2200" dirty="0" err="1"/>
              <a:t>pywhatkit</a:t>
            </a:r>
            <a:r>
              <a:rPr lang="en-US" sz="2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Phase 4: Database &amp; GUI</a:t>
            </a: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SQLite Database Design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 err="1"/>
              <a:t>Tkinter</a:t>
            </a:r>
            <a:r>
              <a:rPr lang="en-US" sz="2200" dirty="0"/>
              <a:t> GUI Development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200" dirty="0"/>
              <a:t>Real-time Statistics Display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9DD6-8ECF-2BD0-0E88-A05E5574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DA40D2-2911-C489-53F4-CAA89209B6C2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48817A-E6D7-1A5E-9B77-D6E48FFF5B81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5D5803-9BA8-91FD-B308-211736557B23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8CC1118-4F3D-EEF9-D55C-9C330DA3E524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7F13DD-0E11-46DD-7A6A-4BF863B9AEFD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81EED33-B7FA-5555-4E7D-0B979E3278CF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19C2020-678A-F663-B3A5-56B89A0E4B01}"/>
              </a:ext>
            </a:extLst>
          </p:cNvPr>
          <p:cNvSpPr txBox="1"/>
          <p:nvPr/>
        </p:nvSpPr>
        <p:spPr>
          <a:xfrm>
            <a:off x="1028700" y="2001393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System Architecture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2D78A0-FF8A-2920-FE1D-277323853D85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pic>
        <p:nvPicPr>
          <p:cNvPr id="12" name="Picture 11">
            <a:hlinkClick r:id="rId2"/>
            <a:extLst>
              <a:ext uri="{FF2B5EF4-FFF2-40B4-BE49-F238E27FC236}">
                <a16:creationId xmlns:a16="http://schemas.microsoft.com/office/drawing/2014/main" id="{AD4AB8E2-8279-4DD1-6CFC-5618BDE50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0" y="3162300"/>
            <a:ext cx="16421120" cy="6003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3F7FB7-C9CE-6C5E-0043-CBDE1B58128B}"/>
              </a:ext>
            </a:extLst>
          </p:cNvPr>
          <p:cNvSpPr txBox="1"/>
          <p:nvPr/>
        </p:nvSpPr>
        <p:spPr>
          <a:xfrm>
            <a:off x="4027122" y="9450015"/>
            <a:ext cx="10233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1211CA"/>
                </a:solidFill>
                <a:latin typeface="Montserrat Classic Bold" panose="020B0604020202020204" charset="0"/>
              </a:rPr>
              <a:t>DATA FLOW:  </a:t>
            </a:r>
            <a:r>
              <a:rPr lang="en-US" sz="2400" dirty="0"/>
              <a:t>Camera → YOLO → Detection → Alert → Database → Evidence</a:t>
            </a:r>
          </a:p>
        </p:txBody>
      </p:sp>
    </p:spTree>
    <p:extLst>
      <p:ext uri="{BB962C8B-B14F-4D97-AF65-F5344CB8AC3E}">
        <p14:creationId xmlns:p14="http://schemas.microsoft.com/office/powerpoint/2010/main" val="271836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01393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Implementation Results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C2BAAA-207C-A6CF-0BF7-807F70200126}"/>
              </a:ext>
            </a:extLst>
          </p:cNvPr>
          <p:cNvSpPr txBox="1"/>
          <p:nvPr/>
        </p:nvSpPr>
        <p:spPr>
          <a:xfrm>
            <a:off x="1028700" y="3695700"/>
            <a:ext cx="5562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GUI Configuration System</a:t>
            </a:r>
          </a:p>
          <a:p>
            <a:r>
              <a:rPr lang="en-US" sz="2200" dirty="0"/>
              <a:t>   • Eliminated command-line complexity</a:t>
            </a:r>
          </a:p>
          <a:p>
            <a:r>
              <a:rPr lang="en-US" sz="2200" dirty="0"/>
              <a:t>   • User-friendly setup dialogs</a:t>
            </a:r>
          </a:p>
          <a:p>
            <a:endParaRPr lang="en-US" sz="2200" dirty="0"/>
          </a:p>
          <a:p>
            <a:r>
              <a:rPr lang="en-US" sz="2400" b="1" dirty="0"/>
              <a:t>Multi-Camera Management</a:t>
            </a:r>
            <a:endParaRPr lang="en-US" sz="2400" dirty="0"/>
          </a:p>
          <a:p>
            <a:r>
              <a:rPr lang="en-US" sz="2200" dirty="0"/>
              <a:t>   • Dynamic camera addition/removal</a:t>
            </a:r>
          </a:p>
          <a:p>
            <a:r>
              <a:rPr lang="en-US" sz="2200" dirty="0"/>
              <a:t>   • Support for USB, IP, RTSP sources</a:t>
            </a:r>
          </a:p>
          <a:p>
            <a:endParaRPr lang="en-US" sz="2200" dirty="0"/>
          </a:p>
          <a:p>
            <a:r>
              <a:rPr lang="en-US" sz="2400" b="1" dirty="0"/>
              <a:t>AI Detection Engine</a:t>
            </a:r>
            <a:endParaRPr lang="en-US" sz="2400" dirty="0"/>
          </a:p>
          <a:p>
            <a:r>
              <a:rPr lang="en-US" sz="2200" dirty="0"/>
              <a:t>   • YOLOv8 integration</a:t>
            </a:r>
          </a:p>
          <a:p>
            <a:r>
              <a:rPr lang="en-US" sz="2200" dirty="0"/>
              <a:t>   • Real-time weapon detection</a:t>
            </a:r>
          </a:p>
          <a:p>
            <a:r>
              <a:rPr lang="en-US" sz="2200" dirty="0"/>
              <a:t>   • Configurable confidence thresholds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8645DD-9255-B214-ABF3-E22253870507}"/>
              </a:ext>
            </a:extLst>
          </p:cNvPr>
          <p:cNvSpPr txBox="1"/>
          <p:nvPr/>
        </p:nvSpPr>
        <p:spPr>
          <a:xfrm>
            <a:off x="7165525" y="3695700"/>
            <a:ext cx="662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Advanced Alert System</a:t>
            </a:r>
            <a:endParaRPr lang="en-US" sz="2400" dirty="0"/>
          </a:p>
          <a:p>
            <a:r>
              <a:rPr lang="en-US" sz="2200" dirty="0"/>
              <a:t>   • Screen alerts with red flash warnings</a:t>
            </a:r>
          </a:p>
          <a:p>
            <a:r>
              <a:rPr lang="en-US" sz="2200" dirty="0"/>
              <a:t>   • System sound notifications</a:t>
            </a:r>
          </a:p>
          <a:p>
            <a:r>
              <a:rPr lang="en-US" sz="2200" dirty="0"/>
              <a:t>   • WhatsApp message and image alerts</a:t>
            </a:r>
          </a:p>
          <a:p>
            <a:r>
              <a:rPr lang="en-US" sz="2200" dirty="0"/>
              <a:t>   • Evidence auto-capture</a:t>
            </a:r>
          </a:p>
          <a:p>
            <a:endParaRPr lang="en-US" sz="2200" dirty="0"/>
          </a:p>
          <a:p>
            <a:r>
              <a:rPr lang="en-US" sz="2400" b="1" dirty="0"/>
              <a:t>Database Management</a:t>
            </a:r>
            <a:endParaRPr lang="en-US" sz="2400" dirty="0"/>
          </a:p>
          <a:p>
            <a:r>
              <a:rPr lang="en-US" sz="2200" dirty="0"/>
              <a:t>   • Real-time detection logging</a:t>
            </a:r>
          </a:p>
          <a:p>
            <a:r>
              <a:rPr lang="en-US" sz="2200" dirty="0"/>
              <a:t>   • Interactive database viewer</a:t>
            </a:r>
          </a:p>
          <a:p>
            <a:r>
              <a:rPr lang="en-US" sz="2200" dirty="0"/>
              <a:t>   • CSV export functionality</a:t>
            </a:r>
          </a:p>
          <a:p>
            <a:endParaRPr lang="en-US" sz="2200" dirty="0"/>
          </a:p>
          <a:p>
            <a:r>
              <a:rPr lang="en-US" sz="2400" b="1" dirty="0"/>
              <a:t>Performance Optimization</a:t>
            </a:r>
            <a:endParaRPr lang="en-US" sz="2400" dirty="0"/>
          </a:p>
          <a:p>
            <a:r>
              <a:rPr lang="en-US" sz="2200" dirty="0"/>
              <a:t>   • Multi-threading implementation</a:t>
            </a:r>
          </a:p>
          <a:p>
            <a:r>
              <a:rPr lang="en-US" sz="2200" dirty="0"/>
              <a:t>   • Smooth GUI operation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6975-CBCB-DE14-8C49-B3016B07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8C4BCC-AACC-1138-7077-177E47A057D6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8B20A1-9F51-1A3E-0AD6-81D531AB845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0955D7C-C50B-252E-EE70-7F10F518C77A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A20A114-33B6-5556-C111-78EEE25EDF7C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587F686-4D4E-416F-0067-FD472921E4E1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F8F9036-9B7D-02FF-145E-ED07963555F1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49668E5-C817-E94C-2F4B-0CA74A93F5C4}"/>
              </a:ext>
            </a:extLst>
          </p:cNvPr>
          <p:cNvSpPr txBox="1"/>
          <p:nvPr/>
        </p:nvSpPr>
        <p:spPr>
          <a:xfrm>
            <a:off x="1028700" y="2001393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Technical Specifications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A20A5F2-1F2C-4DBC-B2AA-BB4DE23993BA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B51703-81E5-9F48-D9F9-F46459CC8253}"/>
              </a:ext>
            </a:extLst>
          </p:cNvPr>
          <p:cNvSpPr txBox="1"/>
          <p:nvPr/>
        </p:nvSpPr>
        <p:spPr>
          <a:xfrm>
            <a:off x="1028700" y="3699420"/>
            <a:ext cx="68961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PERFORMANCE METRICS:</a:t>
            </a:r>
          </a:p>
          <a:p>
            <a:r>
              <a:rPr lang="en-US" sz="2200" b="1" dirty="0"/>
              <a:t>Detection Accuracy:</a:t>
            </a:r>
            <a:r>
              <a:rPr lang="en-US" sz="2200" dirty="0"/>
              <a:t> &gt;95% for weapon identification  </a:t>
            </a:r>
          </a:p>
          <a:p>
            <a:r>
              <a:rPr lang="en-US" sz="2200" b="1" dirty="0"/>
              <a:t>Processing Speed:</a:t>
            </a:r>
            <a:r>
              <a:rPr lang="en-US" sz="2200" dirty="0"/>
              <a:t> 30+ FPS with real-time inference  </a:t>
            </a:r>
          </a:p>
          <a:p>
            <a:r>
              <a:rPr lang="en-US" sz="2200" b="1" dirty="0"/>
              <a:t>Alert Response:</a:t>
            </a:r>
            <a:r>
              <a:rPr lang="en-US" sz="2200" dirty="0"/>
              <a:t> &lt;1 second from detection to notification  </a:t>
            </a:r>
          </a:p>
          <a:p>
            <a:r>
              <a:rPr lang="en-US" sz="2200" b="1" dirty="0"/>
              <a:t>Memory Usage:</a:t>
            </a:r>
            <a:r>
              <a:rPr lang="en-US" sz="2200" dirty="0"/>
              <a:t> Optimized for 8GB+ RAM systems  </a:t>
            </a:r>
          </a:p>
          <a:p>
            <a:r>
              <a:rPr lang="en-US" sz="2200" b="1" dirty="0"/>
              <a:t>Camera Support:</a:t>
            </a:r>
            <a:r>
              <a:rPr lang="en-US" sz="2200" dirty="0"/>
              <a:t> Unlimited concurrent streams 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D3159F-4E61-1184-5078-7B6AF685CE72}"/>
              </a:ext>
            </a:extLst>
          </p:cNvPr>
          <p:cNvSpPr txBox="1"/>
          <p:nvPr/>
        </p:nvSpPr>
        <p:spPr>
          <a:xfrm>
            <a:off x="1028700" y="6530964"/>
            <a:ext cx="571500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SYSTEM REQUIREMENTS:</a:t>
            </a:r>
          </a:p>
          <a:p>
            <a:r>
              <a:rPr lang="en-US" sz="2200" b="1" dirty="0"/>
              <a:t>OS:</a:t>
            </a:r>
            <a:r>
              <a:rPr lang="en-US" sz="2200" dirty="0"/>
              <a:t> Windows 10/11, macOS, Linux  </a:t>
            </a:r>
          </a:p>
          <a:p>
            <a:r>
              <a:rPr lang="en-US" sz="2200" b="1" dirty="0"/>
              <a:t>Python:</a:t>
            </a:r>
            <a:r>
              <a:rPr lang="en-US" sz="2200" dirty="0"/>
              <a:t> 3.8+  </a:t>
            </a:r>
          </a:p>
          <a:p>
            <a:r>
              <a:rPr lang="en-US" sz="2200" b="1" dirty="0"/>
              <a:t>Hardware:</a:t>
            </a:r>
            <a:r>
              <a:rPr lang="en-US" sz="2200" dirty="0"/>
              <a:t> GPU recommended  </a:t>
            </a:r>
          </a:p>
          <a:p>
            <a:r>
              <a:rPr lang="en-US" sz="2200" b="1" dirty="0"/>
              <a:t>Dependencies:</a:t>
            </a:r>
            <a:r>
              <a:rPr lang="en-US" sz="2200" dirty="0"/>
              <a:t> OpenCV, </a:t>
            </a:r>
            <a:r>
              <a:rPr lang="en-US" sz="2200" dirty="0" err="1"/>
              <a:t>PyTorch</a:t>
            </a:r>
            <a:r>
              <a:rPr lang="en-US" sz="2200" dirty="0"/>
              <a:t>, </a:t>
            </a:r>
            <a:r>
              <a:rPr lang="en-US" sz="2200" dirty="0" err="1"/>
              <a:t>Ultralytics</a:t>
            </a:r>
            <a:r>
              <a:rPr lang="en-US" sz="2200" dirty="0"/>
              <a:t>  </a:t>
            </a:r>
          </a:p>
          <a:p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8E75D-0B74-64FC-5265-9C407D39560B}"/>
              </a:ext>
            </a:extLst>
          </p:cNvPr>
          <p:cNvSpPr txBox="1"/>
          <p:nvPr/>
        </p:nvSpPr>
        <p:spPr>
          <a:xfrm>
            <a:off x="8282929" y="3699420"/>
            <a:ext cx="54864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TECHNOLOGY STACK:</a:t>
            </a:r>
          </a:p>
          <a:p>
            <a:r>
              <a:rPr lang="en-US" sz="2200" b="1" dirty="0"/>
              <a:t>Deep Learning:</a:t>
            </a:r>
            <a:r>
              <a:rPr lang="en-US" sz="2200" dirty="0"/>
              <a:t> </a:t>
            </a:r>
            <a:r>
              <a:rPr lang="en-US" sz="2200" dirty="0" err="1"/>
              <a:t>Ultralytics</a:t>
            </a:r>
            <a:r>
              <a:rPr lang="en-US" sz="2200" dirty="0"/>
              <a:t> YOLOv8, </a:t>
            </a:r>
            <a:r>
              <a:rPr lang="en-US" sz="2200" dirty="0" err="1"/>
              <a:t>PyTorch</a:t>
            </a:r>
            <a:r>
              <a:rPr lang="en-US" sz="2200" dirty="0"/>
              <a:t>  </a:t>
            </a:r>
          </a:p>
          <a:p>
            <a:r>
              <a:rPr lang="en-US" sz="2200" b="1" dirty="0"/>
              <a:t>Computer Vision:</a:t>
            </a:r>
            <a:r>
              <a:rPr lang="en-US" sz="2200" dirty="0"/>
              <a:t> OpenCV, PIL/Pillow  </a:t>
            </a:r>
          </a:p>
          <a:p>
            <a:r>
              <a:rPr lang="en-US" sz="2200" b="1" dirty="0"/>
              <a:t>GUI Framework:</a:t>
            </a:r>
            <a:r>
              <a:rPr lang="en-US" sz="2200" dirty="0"/>
              <a:t> </a:t>
            </a:r>
            <a:r>
              <a:rPr lang="en-US" sz="2200" dirty="0" err="1"/>
              <a:t>Tkinter</a:t>
            </a:r>
            <a:r>
              <a:rPr lang="en-US" sz="2200" dirty="0"/>
              <a:t>, TTK  </a:t>
            </a:r>
          </a:p>
          <a:p>
            <a:r>
              <a:rPr lang="en-US" sz="2200" b="1" dirty="0"/>
              <a:t>Database:</a:t>
            </a:r>
            <a:r>
              <a:rPr lang="en-US" sz="2200" dirty="0"/>
              <a:t> SQLite3  </a:t>
            </a:r>
          </a:p>
          <a:p>
            <a:r>
              <a:rPr lang="en-US" sz="2200" b="1" dirty="0"/>
              <a:t>Communication:</a:t>
            </a:r>
            <a:r>
              <a:rPr lang="en-US" sz="2200" dirty="0"/>
              <a:t> </a:t>
            </a:r>
            <a:r>
              <a:rPr lang="en-US" sz="2200" dirty="0" err="1"/>
              <a:t>pywhatkit</a:t>
            </a:r>
            <a:r>
              <a:rPr lang="en-US" sz="2200" dirty="0"/>
              <a:t>, </a:t>
            </a:r>
            <a:r>
              <a:rPr lang="en-US" sz="2200" dirty="0" err="1"/>
              <a:t>winsound</a:t>
            </a:r>
            <a:r>
              <a:rPr lang="en-US" sz="2200" dirty="0"/>
              <a:t>  </a:t>
            </a:r>
          </a:p>
          <a:p>
            <a:r>
              <a:rPr lang="en-US" sz="2200" b="1" dirty="0"/>
              <a:t>Threading:</a:t>
            </a:r>
            <a:r>
              <a:rPr lang="en-US" sz="2200" dirty="0"/>
              <a:t> Python concurrent processing  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6431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D10E-7EFA-2DBB-AE66-ACDD4E65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A4F6CB-0C07-B79F-784D-43736A6E8C15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384573-EEE8-DEC5-F9B3-926CD25C242B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FA7E5BF-B494-E471-B521-22EF3050FE59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8FE3212-2329-588C-49CE-DE733692977A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10A4DB8-EF6F-6579-749B-DCCF3F47B195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B524CE6-38ED-597E-EB29-82A8779300EB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254C646-01A7-CF6A-6C93-E0C08259B2FA}"/>
              </a:ext>
            </a:extLst>
          </p:cNvPr>
          <p:cNvSpPr txBox="1"/>
          <p:nvPr/>
        </p:nvSpPr>
        <p:spPr>
          <a:xfrm>
            <a:off x="1028700" y="2001393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Innovation Highlights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6093CC-ADE1-696E-F856-BF470EB2316A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2847A-35C0-61FE-2BDF-067A56CF87C1}"/>
              </a:ext>
            </a:extLst>
          </p:cNvPr>
          <p:cNvSpPr txBox="1"/>
          <p:nvPr/>
        </p:nvSpPr>
        <p:spPr>
          <a:xfrm>
            <a:off x="1028700" y="3848100"/>
            <a:ext cx="52959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KEY INNOVATIONS:</a:t>
            </a:r>
          </a:p>
          <a:p>
            <a:endParaRPr lang="en-US" sz="2200" dirty="0"/>
          </a:p>
          <a:p>
            <a:r>
              <a:rPr lang="en-US" sz="2400" b="1" dirty="0"/>
              <a:t>GUI-Based Configuration</a:t>
            </a:r>
            <a:endParaRPr lang="en-US" sz="2400" dirty="0"/>
          </a:p>
          <a:p>
            <a:r>
              <a:rPr lang="en-US" sz="2200" dirty="0"/>
              <a:t>   • Eliminated command-line complexity</a:t>
            </a:r>
          </a:p>
          <a:p>
            <a:r>
              <a:rPr lang="en-US" sz="2200" dirty="0"/>
              <a:t>   • Intuitive setup dialogs for all parameters</a:t>
            </a:r>
          </a:p>
          <a:p>
            <a:endParaRPr lang="en-US" sz="2200" dirty="0"/>
          </a:p>
          <a:p>
            <a:r>
              <a:rPr lang="en-US" sz="2400" b="1" dirty="0"/>
              <a:t>Evidence Preservation System</a:t>
            </a:r>
            <a:endParaRPr lang="en-US" sz="2400" dirty="0"/>
          </a:p>
          <a:p>
            <a:r>
              <a:rPr lang="en-US" sz="2200" dirty="0"/>
              <a:t>   • Automatic capture of detection frames</a:t>
            </a:r>
          </a:p>
          <a:p>
            <a:r>
              <a:rPr lang="en-US" sz="2200" dirty="0"/>
              <a:t>   • Metadata storage with timestamps</a:t>
            </a:r>
          </a:p>
          <a:p>
            <a:endParaRPr lang="en-US" sz="2200" dirty="0"/>
          </a:p>
          <a:p>
            <a:r>
              <a:rPr lang="en-US" sz="2400" b="1" dirty="0"/>
              <a:t>WhatsApp Integration</a:t>
            </a:r>
            <a:endParaRPr lang="en-US" sz="2400" dirty="0"/>
          </a:p>
          <a:p>
            <a:r>
              <a:rPr lang="en-US" sz="2200" dirty="0"/>
              <a:t>   • Modern communication channel</a:t>
            </a:r>
          </a:p>
          <a:p>
            <a:r>
              <a:rPr lang="en-US" sz="2200" dirty="0"/>
              <a:t>   • Instant security notifications with images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3297F6-9635-16AE-B2A6-0312A36A3E7A}"/>
              </a:ext>
            </a:extLst>
          </p:cNvPr>
          <p:cNvSpPr txBox="1"/>
          <p:nvPr/>
        </p:nvSpPr>
        <p:spPr>
          <a:xfrm>
            <a:off x="7162800" y="4533900"/>
            <a:ext cx="57150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Performance Optimization</a:t>
            </a:r>
            <a:endParaRPr lang="en-US" sz="2400" dirty="0"/>
          </a:p>
          <a:p>
            <a:r>
              <a:rPr lang="en-US" sz="2200" dirty="0"/>
              <a:t>   • Multi-threading for smooth GUI</a:t>
            </a:r>
          </a:p>
          <a:p>
            <a:r>
              <a:rPr lang="en-US" sz="2200" dirty="0"/>
              <a:t>   • Maintains detection accuracy</a:t>
            </a:r>
            <a:br>
              <a:rPr lang="en-US" sz="2200" dirty="0"/>
            </a:br>
            <a:endParaRPr lang="en-US" sz="2200" dirty="0"/>
          </a:p>
          <a:p>
            <a:r>
              <a:rPr lang="en-US" sz="2400" b="1" dirty="0"/>
              <a:t>Scalable Architecture</a:t>
            </a:r>
            <a:endParaRPr lang="en-US" sz="2400" dirty="0"/>
          </a:p>
          <a:p>
            <a:r>
              <a:rPr lang="en-US" sz="2200" dirty="0"/>
              <a:t>   • Modular design</a:t>
            </a:r>
          </a:p>
          <a:p>
            <a:r>
              <a:rPr lang="en-US" sz="2200" dirty="0"/>
              <a:t>   • Easy feature extensions</a:t>
            </a:r>
          </a:p>
          <a:p>
            <a:r>
              <a:rPr lang="en-US" sz="2200" dirty="0"/>
              <a:t>   • Multiple concurrent camera support</a:t>
            </a:r>
          </a:p>
          <a:p>
            <a:endParaRPr lang="en-US" sz="2200" dirty="0"/>
          </a:p>
          <a:p>
            <a:r>
              <a:rPr lang="en-US" sz="2400" b="1" dirty="0"/>
              <a:t>Comprehensive Security Solution</a:t>
            </a:r>
            <a:endParaRPr lang="en-US" sz="2400" dirty="0"/>
          </a:p>
          <a:p>
            <a:r>
              <a:rPr lang="en-US" sz="2200" dirty="0"/>
              <a:t>   • End-to-end surveillance pipeline</a:t>
            </a:r>
          </a:p>
          <a:p>
            <a:r>
              <a:rPr lang="en-US" sz="2200" dirty="0"/>
              <a:t>   • Complete audit trail maintenance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6242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B475B-6252-59B2-61BB-CF9A3850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C1A872-C8CE-94BF-8C6A-D42F78B5490F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3B8834-BD7C-D4B0-1BED-FF2F09333F90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B9D6258-EA8D-4A69-4F6C-4E690646086B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3A426FD-DFC2-F362-B08C-02E5B9B918EA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EFF0E7-BC1B-21FF-C398-80889D47031E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192659-0962-4B90-64DD-8E0E35982C7B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CA05C21-59B3-58C5-A07D-D4077247733E}"/>
              </a:ext>
            </a:extLst>
          </p:cNvPr>
          <p:cNvSpPr txBox="1"/>
          <p:nvPr/>
        </p:nvSpPr>
        <p:spPr>
          <a:xfrm>
            <a:off x="1028700" y="2001393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Future Enhancements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711FF43-619F-2BDA-2F73-1E25192BB0CC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DF0BF-3440-DBBB-2945-D045F1783B7D}"/>
              </a:ext>
            </a:extLst>
          </p:cNvPr>
          <p:cNvSpPr txBox="1"/>
          <p:nvPr/>
        </p:nvSpPr>
        <p:spPr>
          <a:xfrm>
            <a:off x="1028700" y="3543300"/>
            <a:ext cx="57531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PLANNED IMPROVEMENTS:</a:t>
            </a:r>
          </a:p>
          <a:p>
            <a:endParaRPr lang="en-US" sz="2200" dirty="0"/>
          </a:p>
          <a:p>
            <a:r>
              <a:rPr lang="en-US" sz="2400" b="1" dirty="0"/>
              <a:t>Cloud Integration</a:t>
            </a:r>
            <a:endParaRPr lang="en-US" sz="2400" dirty="0"/>
          </a:p>
          <a:p>
            <a:r>
              <a:rPr lang="en-US" sz="2200" dirty="0"/>
              <a:t>   • Remote monitoring capabilities</a:t>
            </a:r>
          </a:p>
          <a:p>
            <a:r>
              <a:rPr lang="en-US" sz="2200" dirty="0"/>
              <a:t>   • Cloud-based evidence storage</a:t>
            </a:r>
          </a:p>
          <a:p>
            <a:r>
              <a:rPr lang="en-US" sz="2200" dirty="0"/>
              <a:t>   • Distributed processing</a:t>
            </a:r>
          </a:p>
          <a:p>
            <a:endParaRPr lang="en-US" sz="2200" dirty="0"/>
          </a:p>
          <a:p>
            <a:r>
              <a:rPr lang="en-US" sz="2400" b="1" dirty="0"/>
              <a:t>Mobile App Development</a:t>
            </a:r>
            <a:endParaRPr lang="en-US" sz="2400" dirty="0"/>
          </a:p>
          <a:p>
            <a:r>
              <a:rPr lang="en-US" sz="2200" dirty="0"/>
              <a:t>   • Companion app for surveillance management</a:t>
            </a:r>
          </a:p>
          <a:p>
            <a:r>
              <a:rPr lang="en-US" sz="2200" dirty="0"/>
              <a:t>   • Remote system control</a:t>
            </a:r>
          </a:p>
          <a:p>
            <a:r>
              <a:rPr lang="en-US" sz="2200" dirty="0"/>
              <a:t>   • Push notifications</a:t>
            </a:r>
          </a:p>
          <a:p>
            <a:endParaRPr lang="en-US" sz="2200" dirty="0"/>
          </a:p>
          <a:p>
            <a:r>
              <a:rPr lang="en-US" sz="2400" b="1" dirty="0"/>
              <a:t>Advanced Analytics</a:t>
            </a:r>
            <a:endParaRPr lang="en-US" sz="2400" dirty="0"/>
          </a:p>
          <a:p>
            <a:r>
              <a:rPr lang="en-US" sz="2200" dirty="0"/>
              <a:t>   • Detection pattern analysis</a:t>
            </a:r>
          </a:p>
          <a:p>
            <a:r>
              <a:rPr lang="en-US" sz="2200" dirty="0"/>
              <a:t>   • Predictive threat assessment</a:t>
            </a:r>
          </a:p>
          <a:p>
            <a:r>
              <a:rPr lang="en-US" sz="2200" dirty="0"/>
              <a:t>   • Machine learning insights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F023B0-43B9-4927-E247-E0FF259DA8EA}"/>
              </a:ext>
            </a:extLst>
          </p:cNvPr>
          <p:cNvSpPr txBox="1"/>
          <p:nvPr/>
        </p:nvSpPr>
        <p:spPr>
          <a:xfrm>
            <a:off x="8153400" y="4251186"/>
            <a:ext cx="52959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Infrastructure Integration</a:t>
            </a:r>
            <a:endParaRPr lang="en-US" sz="2400" dirty="0"/>
          </a:p>
          <a:p>
            <a:r>
              <a:rPr lang="en-US" sz="2200" dirty="0"/>
              <a:t>   • Existing CCTV system compatibility</a:t>
            </a:r>
          </a:p>
          <a:p>
            <a:r>
              <a:rPr lang="en-US" sz="2200" dirty="0"/>
              <a:t>   • Security platform APIs</a:t>
            </a:r>
          </a:p>
          <a:p>
            <a:r>
              <a:rPr lang="en-US" sz="2200" dirty="0"/>
              <a:t>   • Enterprise system integration</a:t>
            </a:r>
          </a:p>
          <a:p>
            <a:endParaRPr lang="en-US" sz="2200" dirty="0"/>
          </a:p>
          <a:p>
            <a:r>
              <a:rPr lang="en-US" sz="2400" b="1" dirty="0"/>
              <a:t>Model Enhancement</a:t>
            </a:r>
            <a:endParaRPr lang="en-US" sz="2400" dirty="0"/>
          </a:p>
          <a:p>
            <a:r>
              <a:rPr lang="en-US" sz="2200" dirty="0"/>
              <a:t>   • Continuous learning capabilities</a:t>
            </a:r>
          </a:p>
          <a:p>
            <a:r>
              <a:rPr lang="en-US" sz="2200" dirty="0"/>
              <a:t>   • Custom model retraining</a:t>
            </a:r>
          </a:p>
          <a:p>
            <a:r>
              <a:rPr lang="en-US" sz="2200" dirty="0"/>
              <a:t>   • Improved accuracy algorithms</a:t>
            </a:r>
            <a:br>
              <a:rPr lang="en-US" sz="2200" dirty="0"/>
            </a:br>
            <a:endParaRPr lang="en-US" sz="2200" dirty="0"/>
          </a:p>
          <a:p>
            <a:r>
              <a:rPr lang="en-US" sz="2400" b="1" dirty="0"/>
              <a:t>Reporting System</a:t>
            </a:r>
            <a:endParaRPr lang="en-US" sz="2400" dirty="0"/>
          </a:p>
          <a:p>
            <a:r>
              <a:rPr lang="en-US" sz="2200" dirty="0"/>
              <a:t>   • Automated security reports</a:t>
            </a:r>
          </a:p>
          <a:p>
            <a:r>
              <a:rPr lang="en-US" sz="2200" dirty="0"/>
              <a:t>   • Compliance documentation</a:t>
            </a:r>
          </a:p>
          <a:p>
            <a:r>
              <a:rPr lang="en-US" sz="2200" dirty="0"/>
              <a:t>   • Statistical analysis tools</a:t>
            </a:r>
          </a:p>
        </p:txBody>
      </p:sp>
    </p:spTree>
    <p:extLst>
      <p:ext uri="{BB962C8B-B14F-4D97-AF65-F5344CB8AC3E}">
        <p14:creationId xmlns:p14="http://schemas.microsoft.com/office/powerpoint/2010/main" val="2786914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15C96-F0E7-994B-FD42-3428844C3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DE736D8-4CCA-48F2-A430-0621113B8704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E40C2E-FBB0-BB79-923F-9F88EE5C7E93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C049F1-2730-921F-E954-72E3A4ACCD00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82545BA-74F4-27BA-7C75-D07BB779CA48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AE45468-C8B0-918C-A5CC-D207C8E8B8D9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5F47245-0CAB-41C6-7C98-541C0D2A015B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F3F574E-4D21-5B1B-892F-E9410DBF9CAE}"/>
              </a:ext>
            </a:extLst>
          </p:cNvPr>
          <p:cNvSpPr txBox="1"/>
          <p:nvPr/>
        </p:nvSpPr>
        <p:spPr>
          <a:xfrm>
            <a:off x="1028700" y="2001393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Conclusion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B30603E-DA45-4517-5A65-A3FD19502DB6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FD539-0F94-E900-318D-706254D0F790}"/>
              </a:ext>
            </a:extLst>
          </p:cNvPr>
          <p:cNvSpPr txBox="1"/>
          <p:nvPr/>
        </p:nvSpPr>
        <p:spPr>
          <a:xfrm>
            <a:off x="1028700" y="3329589"/>
            <a:ext cx="945152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PROJECT SUMMARY:</a:t>
            </a:r>
          </a:p>
          <a:p>
            <a:endParaRPr lang="en-US" dirty="0"/>
          </a:p>
          <a:p>
            <a:r>
              <a:rPr lang="en-US" sz="2200" dirty="0"/>
              <a:t>Successfully developed a comprehensive AI-powered surveillance system that:</a:t>
            </a:r>
            <a:br>
              <a:rPr lang="en-US" sz="2200" dirty="0"/>
            </a:b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b="1" dirty="0"/>
              <a:t>Achieves &gt;95% weapon detection accuracy</a:t>
            </a:r>
            <a:r>
              <a:rPr lang="en-US" sz="2200" dirty="0"/>
              <a:t> using YOLOv8  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b="1" dirty="0"/>
              <a:t>Provides real-time multi-camera surveillance</a:t>
            </a:r>
            <a:r>
              <a:rPr lang="en-US" sz="2200" dirty="0"/>
              <a:t> capabilities  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b="1" dirty="0"/>
              <a:t>Implements intelligent alert system</a:t>
            </a:r>
            <a:r>
              <a:rPr lang="en-US" sz="2200" dirty="0"/>
              <a:t> with multiple channels  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b="1" dirty="0"/>
              <a:t>Offers user-friendly GUI</a:t>
            </a:r>
            <a:r>
              <a:rPr lang="en-US" sz="2200" dirty="0"/>
              <a:t> for easy system management  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b="1" dirty="0"/>
              <a:t>Maintains comprehensive audit trails</a:t>
            </a:r>
            <a:r>
              <a:rPr lang="en-US" sz="2200" dirty="0"/>
              <a:t> and evidence preservation  </a:t>
            </a:r>
          </a:p>
          <a:p>
            <a:endParaRPr lang="en-US" sz="2200" dirty="0"/>
          </a:p>
          <a:p>
            <a:r>
              <a:rPr lang="en-US" sz="2400" b="1" dirty="0"/>
              <a:t>Key Achievements: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Bridged gap between academic research and practical application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Created scalable architecture supporting unlimited cameras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Integrated modern communication channels (WhatsApp)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Developed complete end-to-end security solution 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98ED45-C914-5F36-9F01-4358F7A7A920}"/>
              </a:ext>
            </a:extLst>
          </p:cNvPr>
          <p:cNvSpPr txBox="1"/>
          <p:nvPr/>
        </p:nvSpPr>
        <p:spPr>
          <a:xfrm>
            <a:off x="9829800" y="6684353"/>
            <a:ext cx="689477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Impact: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Enhanced security response times (&lt;1 second alerts)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Reduced false positive rates through AI optimization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Improved evidence preservation for forensic analysis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Simplified system operation through intuitive interface 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066DF-3454-9A2E-772B-728A0C81025B}"/>
              </a:ext>
            </a:extLst>
          </p:cNvPr>
          <p:cNvSpPr txBox="1"/>
          <p:nvPr/>
        </p:nvSpPr>
        <p:spPr>
          <a:xfrm>
            <a:off x="1028700" y="9182100"/>
            <a:ext cx="1623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/>
              <a:t>This system represents a significant advancement in automated surveillance technology, providing a robust, reliable, and user-friendly solution for modern security challenges.</a:t>
            </a:r>
          </a:p>
        </p:txBody>
      </p:sp>
    </p:spTree>
    <p:extLst>
      <p:ext uri="{BB962C8B-B14F-4D97-AF65-F5344CB8AC3E}">
        <p14:creationId xmlns:p14="http://schemas.microsoft.com/office/powerpoint/2010/main" val="131233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980B-1A1D-7423-5A45-CC464FAC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67CD6E-E722-A752-10DE-99C67284BED8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33240B7-0006-47CE-021C-755B79C06D8F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B565869-4320-52FD-FA97-3AD31AC57553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5163A9E-7C52-2C07-2727-BA6ED316B076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337FA58-8B4F-3DB9-1B25-190799508FAE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46C29CD-BBA6-45D2-F1AF-4426EA4932C7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FBAF508-9D98-1A55-0D8B-C6BED8AB3AE5}"/>
              </a:ext>
            </a:extLst>
          </p:cNvPr>
          <p:cNvSpPr txBox="1"/>
          <p:nvPr/>
        </p:nvSpPr>
        <p:spPr>
          <a:xfrm>
            <a:off x="1028700" y="2001393"/>
            <a:ext cx="9451525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200" b="1" dirty="0">
                <a:solidFill>
                  <a:srgbClr val="1211CA"/>
                </a:solidFill>
                <a:latin typeface="Montserrat Heavy" panose="020B0604020202020204" charset="0"/>
              </a:rPr>
              <a:t>Thank You</a:t>
            </a:r>
            <a:endParaRPr lang="en-US" sz="4200" dirty="0">
              <a:solidFill>
                <a:srgbClr val="1211CA"/>
              </a:solidFill>
              <a:latin typeface="Montserrat Heavy" panose="020B060402020202020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D3339C3-56F2-0EF4-5948-72C8F534B1B4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FB5934-9235-F202-C284-209143727C50}"/>
              </a:ext>
            </a:extLst>
          </p:cNvPr>
          <p:cNvSpPr txBox="1"/>
          <p:nvPr/>
        </p:nvSpPr>
        <p:spPr>
          <a:xfrm>
            <a:off x="1028700" y="4305300"/>
            <a:ext cx="651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"Securing Tomorrow with Intelligent Surveillance."</a:t>
            </a:r>
          </a:p>
        </p:txBody>
      </p:sp>
    </p:spTree>
    <p:extLst>
      <p:ext uri="{BB962C8B-B14F-4D97-AF65-F5344CB8AC3E}">
        <p14:creationId xmlns:p14="http://schemas.microsoft.com/office/powerpoint/2010/main" val="145481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846</Words>
  <Application>Microsoft Office PowerPoint</Application>
  <PresentationFormat>Custom</PresentationFormat>
  <Paragraphs>203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Montserrat Classic Bold</vt:lpstr>
      <vt:lpstr>Courier New</vt:lpstr>
      <vt:lpstr>Wingdings</vt:lpstr>
      <vt:lpstr>Open Sans</vt:lpstr>
      <vt:lpstr>Calibri</vt:lpstr>
      <vt:lpstr>Montserrat Ultra-Bold</vt:lpstr>
      <vt:lpstr>Arial</vt:lpstr>
      <vt:lpstr>Montserrat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and Overview</dc:title>
  <dc:creator>W D</dc:creator>
  <cp:lastModifiedBy>W D</cp:lastModifiedBy>
  <cp:revision>16</cp:revision>
  <dcterms:created xsi:type="dcterms:W3CDTF">2006-08-16T00:00:00Z</dcterms:created>
  <dcterms:modified xsi:type="dcterms:W3CDTF">2025-09-18T20:37:26Z</dcterms:modified>
  <dc:identifier>DAGZzy8s-aI</dc:identifier>
</cp:coreProperties>
</file>